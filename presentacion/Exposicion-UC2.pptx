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Presentar integrantes y objetivo. Sustituir los marcadores de nombres y matrículas. Todos deben participar.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0:30–1:00. Mostrar las dos pestañas. Iniciar sesión en ambas antes de exponer. Explicar que quien hace la segunda petición SSRF es 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1:00–1:45. Explicar IDOR: referencia directa insegura a un objeto. Un login correcto no autoriza a consultar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1:45–3:30. Cambiar el ID en la barra de direcciones. Señalar usuario Ana y propietario Bruno. No cambiar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3:30–5:00. Repetir con 3001. La API aplica el mismo control. Comparar el fallo y la corrección sin perder la operación legítima.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5:00–5:45. XSS no tiene categoría independiente en 2021. Explicar que aquí se ejecuta en el navegador, no en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5:45–7:00. Pulsar Mostrar comentario y cerrar la alerta. HttpOnly no elimina XSS: limita lectura de cookies, no las acciones desde la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7:00–9:00. Mostrar la salida codificada. Probar /csp-prueba en ambas versiones: script fijo ejecutado en 3000 y bloqueado en 3001. El código aplica la política completa como encabezado HTTP, incluyendo img-src, frame-ancestors y form-action. Si se necesitan scripts legítimos, usar nonces o hashes.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9:00–9:45. Distinguir SSRF de CSRF. No afirmar que el servicio simulado sea inaccesible desde el navegador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9:45–11:00. Demostrar primero el catálogo y después el secreto. La URL elegida se envía al backend, que hace la segunda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11:00–13:00. Repetir catálogo y secreto en 3001. Explicar coincidencia exacta y redirecciones desactivadas. El catálogo local es una excepción específica, no un permiso para toda la red privada. El firewall es una recomendación adicional; no está implementado en esta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13:00–14:00. Recapitular el impacto y la mitigación de cada tema. Cada demostración compara resultado vulnerable y mitigado.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14:00–14:30. Declarar el apoyo de IA sin atribuir al equipo trabajo que no realizó. Completar el campo de revisión después del ensayo.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14:30–15:00. Mostrar las fuentes. El líder debe enviar nombres y matrículas en el cuerpo del correo y el enlace público o con permiso de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owasp.org/Top10/2021/A01_2021-Broken_Access_Control/" TargetMode="External"/><Relationship Id="rId2" Type="http://schemas.openxmlformats.org/officeDocument/2006/relationships/hyperlink" Target="https://owasp.org/Top10/2021/A03_2021-Injection/" TargetMode="External"/><Relationship Id="rId3" Type="http://schemas.openxmlformats.org/officeDocument/2006/relationships/hyperlink" Target="https://owasp.org/Top10/2021/A10_2021-Server-Side_Request_Forgery_%28SSRF%29/" TargetMode="External"/><Relationship Id="rId4" Type="http://schemas.openxmlformats.org/officeDocument/2006/relationships/hyperlink" Target="https://cheatsheetseries.owasp.org/cheatsheets/Authorization_Cheat_Sheet.html" TargetMode="External"/><Relationship Id="rId5" Type="http://schemas.openxmlformats.org/officeDocument/2006/relationships/hyperlink" Target="https://cheatsheetseries.owasp.org/cheatsheets/Cross_Site_Scripting_Prevention_Cheat_Sheet.html" TargetMode="External"/><Relationship Id="rId6" Type="http://schemas.openxmlformats.org/officeDocument/2006/relationships/hyperlink" Target="https://cheatsheetseries.owasp.org/cheatsheets/Content_Security_Policy_Cheat_Sheet.html" TargetMode="External"/><Relationship Id="rId7" Type="http://schemas.openxmlformats.org/officeDocument/2006/relationships/hyperlink" Target="https://cheatsheetseries.owasp.org/cheatsheets/Server_Side_Request_Forgery_Prevention_Cheat_Sheet.html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/ CIBERSEGURIDAD APLICADA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Vulnerabilidades críticas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Exposición, demostración y mitigación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Broken Access Control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7797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Cross-Site Scripting + CSP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Server-Side Request Forgery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43159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15 minutos · OWASP Top 10:2021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· INGENIERÍA EN 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[Nombre completo 1] — [Matrícula 1]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[Nombre completo 2] — [Matrícula 2]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[Nombre completo 3] — [Matrícula 3]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antes de entregar. Máximo 3 integrantes.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cada tema: teoría → OWASP → código y exploit → corrección.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LABORATORIO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aplicación, dos versiones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Vulnerable: 127.0.0.1:3000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Mitigado: 127.0.0.1:3001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Sesión: ana / demo123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JavaScript / Node.js · Sin Internet al exponer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LA DEMOSTRACIÓN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 → aplicación web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→ catálogo local (:9100)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→ servicio interno simulado (:9101)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Notas, cuentas y secretos ficticios. Todo escucha en 127.0.0.1.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servicio interno es una simulación local; no representa una red aislada real.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FUNDAMENTO · A01:2021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Access Control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Fallo al aplicar los permisos de un usuario.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Autenticación: ¿quién eres?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Autorización: ¿qué puedes hacer?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Impacto: leer, modificar o borrar datos ajenos.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IDOR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inicia sesión correctamente.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/notas/1 → nota de Ana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 el identificador: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/notas/2 → nota de Bruno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ID selecciona el objeto; no concede permiso.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A01:2021 · Validar permisos por objeto y por operación en el servidor.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CÓDIGO VULNERABLE +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Cambiar un ID expone otra nota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Abrir :3000/notas/1 como Ana.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Cambiar el último número a 2.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Resultado: HTTP 200 y presupuesto de Bruno.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Falta comprobar la propiedad del objeto.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vulnerable/app.js · obtenerNota (fragmento)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nota = notas[id];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(!nota)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estado: 404,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error: 'Nota inexistente' };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comprueba al propietario.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 estado: 200, nota };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Demostración: una sesión válida accede a información ajena.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MITIGACIÓN INMEDIATA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Autorizar antes de devolver el objeto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 identidad viene de la sesión del servidor.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Comprobar el propietario de cada nota.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Ana + nota 1 → HTTP 200.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Ana + nota 2 → HTTP 403.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mitigado/app.js · obtenerNota (fragmento)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(nota.propietario !== usuario)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estado: 403,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'Acceso denegado: esta nota '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'pertenece a otro usuario.'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 estado: 200, nota };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Ocultar botones o usar UUID no sustituye la autorización en backend.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FUNDAMENTO · A03:2021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XSS: datos que el navegador ejecuta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Entrada no confiable se interpreta como HTML ejecutable.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Tipos: reflejado, almacenado y basado en DOM.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Nuestra demo: XSS reflejado.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Impacto: alterar la página o actuar con la sesión de la víctima.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DATO AL CÓDIGO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envía un comentario.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lo inserta sin codificar.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navegador crea una etiqueta HTML.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evento ejecuta JavaScript bajo el origen de la aplicación.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A03:2021 · Injection incluye XSS (CWE-79).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CÓDIGO VULNERABLE +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comentario provoca una alerta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Abrir :3000/xss.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Enviar el comentario precargado.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 imagen falla al cargar y ejecuta onerror.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 alert es una prueba inocua de ejecución.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vulnerable/app.js + entrada de prueba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mostrarComentario(texto)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texto; // Se inserta en un div.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Entrada en el formulario: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src=x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onerror="alert('XSS de laboratorio')"&gt;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hace falta una etiqueta &lt;script&gt; para ejecutar JavaScript.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MITIGACIÓN + COMPROBACIÓN CSP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Codificar la salida y añadir CSP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 :3001/xss, la entrada se muestra como texto.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Escape contextual: &lt; se representa como &amp;lt;.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CSP es una defensa adicional.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 /csp-prueba: comparar alertas y abrir F12 → Console.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mitigado/app.js · salida y directivas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mostrarComentario(texto)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escaparHTML(texto);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Content-Security-Policy: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default-src 'none';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script-src 'none';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style-src 'self';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object-src 'none';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base-uri 'none'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app no necesita scripts. CSP no sustituye el escape ni la sanitización contextual.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FUNDAMENTO · A10:2021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SSRF: el servidor hace la petición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 usuario controla un destino consultado por el backend.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 aprovecha la conectividad del servidor.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Impacto: acceso a servicios internos o metadatos.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 demo utiliza un secreto totalmente ficticio.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¿QUIÉN SE CONECTA?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→ URL elegida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→ petición HTTP al destino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interno → respuesta a la aplicación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→ datos devueltos al usuario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A10:2021 · En SSRF actúa el servidor; en XSS actúa el navegador.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CÓDIGO VULNERABLE +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consultar un catálogo a leer un secreto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Abrir :3000/ssrf.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Consultar :9100/catalogo → productos.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Cambiar por :9101/secreto.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Resultado: SECRETO-DE-LABORATORIO-123.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vulnerable/app.js · consultarRecurso (fragmento)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 URL proviene del usuario.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descargar(url,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redirect: 'follow'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Catálogo legítimo: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http://127.0.0.1:9100/catalogo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Servicio interno simulado: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http://127.0.0.1:9101/secreto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Permitir HTTP/HTTPS y añadir un timeout no autoriza el destino.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MITIGACIÓN INMEDIATA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Destinos fijos, sin redirecciones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Allowlist exacta: esquema, IP, puerto y ruta.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IP literal: sin resolución DNS en esta demo.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Catálogo permitido → HTTP 200.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Servicio interno → HTTP 403.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4855464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Complemento real: restricciones de salida de red.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mitigado/app.js · consultarRecurso (fragmento)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2450592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(!destinosPermitidos.has(url))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error = new Error(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'Destino bloqueado'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error.status = 403;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error;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destinoFijo =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destinosPermitidos.get(url);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descargar(destinoFijo, 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redirect: 'error'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dominios: controlar IP efectiva, IPv4/IPv6, DNS rebinding y rangos reservados.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límites de confianza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Acceso roto: usuario → objeto ajeno.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XSS: dato → código del navegador.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SSRF: entrada → conexión del servidor.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QUE CORRIGE CADA FALLA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 por objeto en backend.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codificada según el contexto + CSP.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Destinos permitidos y redirecciones bloqueadas.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siempre: ataque rechazado y uso legítimo conservado.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confiar en la entrada del cliente para decidir permisos, código o destinos.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 / USO DE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Prompt, resultados y revisión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Herramienta: GPT-6 Astra mediante OpenCode.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Contexto: consigna completa de la actividad.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Resultados: código, presentación, guion y pruebas.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Equipo: [anotar revisiones y adaptaciones reales].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INSTRUCCIÓN LITERAL UTILIZADA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487168"/>
            <a:ext cx="5870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 importa la fecha. nomas haz lo que se necesita y dime que hacer o explicar.”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Adaptaciones del asistente: Node.js disponible, datos ficticios y servicios locales.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ampliado: USO-IA.md. El equipo debe ensayar y explicar el código.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Documentar lo que realmente se utilizó y adaptó; citar fuentes técnicas oficiales.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/ 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Fuentes oficiales y entrega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OWASP Top 10:2021: edición aceptada por la consigna.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5117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Código organizado en /vulnerable y /mitigado.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31927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Entrega: presentación + enlace al proyecto completo.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Gracias. ¿Preguntas?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6419088" cy="4206240"/>
          </a:xfrm>
          <a:prstGeom prst="roundRect">
            <a:avLst>
              <a:gd name="adj" fmla="val 3261"/>
            </a:avLst>
          </a:prstGeom>
          <a:solidFill>
            <a:srgbClr val="162136"/>
          </a:solidFill>
          <a:ln w="12700">
            <a:solidFill>
              <a:srgbClr val="26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01952"/>
            <a:ext cx="5870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· ENLACES CLICABLES</a:t>
            </a:r>
            <a:endParaRPr lang="en-US" sz="12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440680" y="2496312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A01:2021 · Broken Access Control</a:t>
            </a:r>
            <a:endParaRPr lang="en-US" sz="16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5440680" y="2916936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A03:2021 · Injection (incluye XSS)</a:t>
            </a:r>
            <a:endParaRPr lang="en-US" sz="16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5440680" y="3337560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A10:2021 · SSRF</a:t>
            </a:r>
            <a:endParaRPr lang="en-US" sz="1600" dirty="0"/>
          </a:p>
        </p:txBody>
      </p:sp>
      <p:sp>
        <p:nvSpPr>
          <p:cNvPr id="14" name="Text 12">
            <a:hlinkClick r:id="rId4" tooltip=""/>
          </p:cNvPr>
          <p:cNvSpPr/>
          <p:nvPr/>
        </p:nvSpPr>
        <p:spPr>
          <a:xfrm>
            <a:off x="5440680" y="3758184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· Authorization Cheat Sheet</a:t>
            </a:r>
            <a:endParaRPr lang="en-US" sz="1600" dirty="0"/>
          </a:p>
        </p:txBody>
      </p:sp>
      <p:sp>
        <p:nvSpPr>
          <p:cNvPr id="15" name="Text 13">
            <a:hlinkClick r:id="rId5" tooltip=""/>
          </p:cNvPr>
          <p:cNvSpPr/>
          <p:nvPr/>
        </p:nvSpPr>
        <p:spPr>
          <a:xfrm>
            <a:off x="5440680" y="4178808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· XSS Prevention Cheat Sheet</a:t>
            </a:r>
            <a:endParaRPr lang="en-US" sz="1600" dirty="0"/>
          </a:p>
        </p:txBody>
      </p:sp>
      <p:sp>
        <p:nvSpPr>
          <p:cNvPr id="16" name="Text 14">
            <a:hlinkClick r:id="rId6" tooltip=""/>
          </p:cNvPr>
          <p:cNvSpPr/>
          <p:nvPr/>
        </p:nvSpPr>
        <p:spPr>
          <a:xfrm>
            <a:off x="5440680" y="4599432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· Content Security Policy Cheat Sheet</a:t>
            </a:r>
            <a:endParaRPr lang="en-US" sz="1600" dirty="0"/>
          </a:p>
        </p:txBody>
      </p:sp>
      <p:sp>
        <p:nvSpPr>
          <p:cNvPr id="17" name="Text 15">
            <a:hlinkClick r:id="rId7" tooltip=""/>
          </p:cNvPr>
          <p:cNvSpPr/>
          <p:nvPr/>
        </p:nvSpPr>
        <p:spPr>
          <a:xfrm>
            <a:off x="5440680" y="5020056"/>
            <a:ext cx="5870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· SSRF Prevention Cheat Sheet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0807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completas: FUENTES.md · Plantilla de entrega: CORREO.md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ITSON  /  Ciberseguridad Aplicada  /  UC2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6492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Exposición y Mitigación de Vulnerabilidades Críticas</dc:title>
  <dc:subject>Broken Access Control, XSS/CSP y SSRF</dc:subject>
  <dc:creator>Equipo · Ciberseguridad Aplicada · ITSON</dc:creator>
  <cp:lastModifiedBy>Equipo · Ciberseguridad Aplicada · ITSON</cp:lastModifiedBy>
  <cp:revision>1</cp:revision>
  <dcterms:created xsi:type="dcterms:W3CDTF">2026-10-26T23:38:58Z</dcterms:created>
  <dcterms:modified xsi:type="dcterms:W3CDTF">2026-10-26T23:38:58Z</dcterms:modified>
</cp:coreProperties>
</file>